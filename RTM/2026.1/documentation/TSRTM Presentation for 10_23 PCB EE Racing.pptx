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ink/ink1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4"/>
  </p:sldMasterIdLst>
  <p:notesMasterIdLst>
    <p:notesMasterId r:id="rId17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4D74390-576C-29DE-2607-440086A40826}" v="561" dt="2025-11-15T04:31:41.35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asily M. Ermolenko" userId="S::vermolen@ad.uci.edu::e1dc845f-c510-4e2a-bba6-24e949f1aded" providerId="AD" clId="Web-{64D74390-576C-29DE-2607-440086A40826}"/>
    <pc:docChg chg="addSld modSld">
      <pc:chgData name="Vasily M. Ermolenko" userId="S::vermolen@ad.uci.edu::e1dc845f-c510-4e2a-bba6-24e949f1aded" providerId="AD" clId="Web-{64D74390-576C-29DE-2607-440086A40826}" dt="2025-11-15T04:31:34.687" v="434" actId="20577"/>
      <pc:docMkLst>
        <pc:docMk/>
      </pc:docMkLst>
      <pc:sldChg chg="modSp">
        <pc:chgData name="Vasily M. Ermolenko" userId="S::vermolen@ad.uci.edu::e1dc845f-c510-4e2a-bba6-24e949f1aded" providerId="AD" clId="Web-{64D74390-576C-29DE-2607-440086A40826}" dt="2025-11-15T04:13:58.399" v="1" actId="20577"/>
        <pc:sldMkLst>
          <pc:docMk/>
          <pc:sldMk cId="0" sldId="258"/>
        </pc:sldMkLst>
        <pc:spChg chg="mod">
          <ac:chgData name="Vasily M. Ermolenko" userId="S::vermolen@ad.uci.edu::e1dc845f-c510-4e2a-bba6-24e949f1aded" providerId="AD" clId="Web-{64D74390-576C-29DE-2607-440086A40826}" dt="2025-11-15T04:13:58.399" v="1" actId="20577"/>
          <ac:spMkLst>
            <pc:docMk/>
            <pc:sldMk cId="0" sldId="258"/>
            <ac:spMk id="76" creationId="{00000000-0000-0000-0000-000000000000}"/>
          </ac:spMkLst>
        </pc:spChg>
      </pc:sldChg>
      <pc:sldChg chg="modSp">
        <pc:chgData name="Vasily M. Ermolenko" userId="S::vermolen@ad.uci.edu::e1dc845f-c510-4e2a-bba6-24e949f1aded" providerId="AD" clId="Web-{64D74390-576C-29DE-2607-440086A40826}" dt="2025-11-15T04:14:09.259" v="3" actId="20577"/>
        <pc:sldMkLst>
          <pc:docMk/>
          <pc:sldMk cId="0" sldId="260"/>
        </pc:sldMkLst>
        <pc:spChg chg="mod">
          <ac:chgData name="Vasily M. Ermolenko" userId="S::vermolen@ad.uci.edu::e1dc845f-c510-4e2a-bba6-24e949f1aded" providerId="AD" clId="Web-{64D74390-576C-29DE-2607-440086A40826}" dt="2025-11-15T04:14:09.259" v="3" actId="20577"/>
          <ac:spMkLst>
            <pc:docMk/>
            <pc:sldMk cId="0" sldId="260"/>
            <ac:spMk id="99" creationId="{00000000-0000-0000-0000-000000000000}"/>
          </ac:spMkLst>
        </pc:spChg>
      </pc:sldChg>
      <pc:sldChg chg="addSp delSp modSp">
        <pc:chgData name="Vasily M. Ermolenko" userId="S::vermolen@ad.uci.edu::e1dc845f-c510-4e2a-bba6-24e949f1aded" providerId="AD" clId="Web-{64D74390-576C-29DE-2607-440086A40826}" dt="2025-11-15T04:19:25.203" v="138" actId="20577"/>
        <pc:sldMkLst>
          <pc:docMk/>
          <pc:sldMk cId="0" sldId="261"/>
        </pc:sldMkLst>
        <pc:spChg chg="add mod">
          <ac:chgData name="Vasily M. Ermolenko" userId="S::vermolen@ad.uci.edu::e1dc845f-c510-4e2a-bba6-24e949f1aded" providerId="AD" clId="Web-{64D74390-576C-29DE-2607-440086A40826}" dt="2025-11-15T04:19:25.203" v="138" actId="20577"/>
          <ac:spMkLst>
            <pc:docMk/>
            <pc:sldMk cId="0" sldId="261"/>
            <ac:spMk id="2" creationId="{848AAF93-C3D7-66FA-61FE-98A9E87C0FF1}"/>
          </ac:spMkLst>
        </pc:spChg>
        <pc:spChg chg="mod">
          <ac:chgData name="Vasily M. Ermolenko" userId="S::vermolen@ad.uci.edu::e1dc845f-c510-4e2a-bba6-24e949f1aded" providerId="AD" clId="Web-{64D74390-576C-29DE-2607-440086A40826}" dt="2025-11-15T04:15:07.729" v="10" actId="20577"/>
          <ac:spMkLst>
            <pc:docMk/>
            <pc:sldMk cId="0" sldId="261"/>
            <ac:spMk id="112" creationId="{00000000-0000-0000-0000-000000000000}"/>
          </ac:spMkLst>
        </pc:spChg>
        <pc:spChg chg="del">
          <ac:chgData name="Vasily M. Ermolenko" userId="S::vermolen@ad.uci.edu::e1dc845f-c510-4e2a-bba6-24e949f1aded" providerId="AD" clId="Web-{64D74390-576C-29DE-2607-440086A40826}" dt="2025-11-15T04:15:31.496" v="11"/>
          <ac:spMkLst>
            <pc:docMk/>
            <pc:sldMk cId="0" sldId="261"/>
            <ac:spMk id="114" creationId="{00000000-0000-0000-0000-000000000000}"/>
          </ac:spMkLst>
        </pc:spChg>
        <pc:spChg chg="mod">
          <ac:chgData name="Vasily M. Ermolenko" userId="S::vermolen@ad.uci.edu::e1dc845f-c510-4e2a-bba6-24e949f1aded" providerId="AD" clId="Web-{64D74390-576C-29DE-2607-440086A40826}" dt="2025-11-15T04:16:06.637" v="19" actId="20577"/>
          <ac:spMkLst>
            <pc:docMk/>
            <pc:sldMk cId="0" sldId="261"/>
            <ac:spMk id="115" creationId="{00000000-0000-0000-0000-000000000000}"/>
          </ac:spMkLst>
        </pc:spChg>
      </pc:sldChg>
      <pc:sldChg chg="modSp">
        <pc:chgData name="Vasily M. Ermolenko" userId="S::vermolen@ad.uci.edu::e1dc845f-c510-4e2a-bba6-24e949f1aded" providerId="AD" clId="Web-{64D74390-576C-29DE-2607-440086A40826}" dt="2025-11-15T04:22:06.924" v="241" actId="20577"/>
        <pc:sldMkLst>
          <pc:docMk/>
          <pc:sldMk cId="0" sldId="263"/>
        </pc:sldMkLst>
        <pc:spChg chg="mod">
          <ac:chgData name="Vasily M. Ermolenko" userId="S::vermolen@ad.uci.edu::e1dc845f-c510-4e2a-bba6-24e949f1aded" providerId="AD" clId="Web-{64D74390-576C-29DE-2607-440086A40826}" dt="2025-11-15T04:22:06.924" v="241" actId="20577"/>
          <ac:spMkLst>
            <pc:docMk/>
            <pc:sldMk cId="0" sldId="263"/>
            <ac:spMk id="128" creationId="{00000000-0000-0000-0000-000000000000}"/>
          </ac:spMkLst>
        </pc:spChg>
      </pc:sldChg>
      <pc:sldChg chg="addSp modSp new">
        <pc:chgData name="Vasily M. Ermolenko" userId="S::vermolen@ad.uci.edu::e1dc845f-c510-4e2a-bba6-24e949f1aded" providerId="AD" clId="Web-{64D74390-576C-29DE-2607-440086A40826}" dt="2025-11-15T04:31:34.687" v="434" actId="20577"/>
        <pc:sldMkLst>
          <pc:docMk/>
          <pc:sldMk cId="2933862925" sldId="266"/>
        </pc:sldMkLst>
        <pc:spChg chg="mod">
          <ac:chgData name="Vasily M. Ermolenko" userId="S::vermolen@ad.uci.edu::e1dc845f-c510-4e2a-bba6-24e949f1aded" providerId="AD" clId="Web-{64D74390-576C-29DE-2607-440086A40826}" dt="2025-11-15T04:22:56.347" v="259" actId="20577"/>
          <ac:spMkLst>
            <pc:docMk/>
            <pc:sldMk cId="2933862925" sldId="266"/>
            <ac:spMk id="2" creationId="{C686B2BA-D6C0-B354-A75E-78BDAD326F29}"/>
          </ac:spMkLst>
        </pc:spChg>
        <pc:spChg chg="mod">
          <ac:chgData name="Vasily M. Ermolenko" userId="S::vermolen@ad.uci.edu::e1dc845f-c510-4e2a-bba6-24e949f1aded" providerId="AD" clId="Web-{64D74390-576C-29DE-2607-440086A40826}" dt="2025-11-15T04:31:34.687" v="434" actId="20577"/>
          <ac:spMkLst>
            <pc:docMk/>
            <pc:sldMk cId="2933862925" sldId="266"/>
            <ac:spMk id="3" creationId="{6A854D25-DC74-26CA-680D-0CEF84EEEAB4}"/>
          </ac:spMkLst>
        </pc:spChg>
        <pc:picChg chg="add mod modCrop">
          <ac:chgData name="Vasily M. Ermolenko" userId="S::vermolen@ad.uci.edu::e1dc845f-c510-4e2a-bba6-24e949f1aded" providerId="AD" clId="Web-{64D74390-576C-29DE-2607-440086A40826}" dt="2025-11-15T04:24:48.512" v="294" actId="1076"/>
          <ac:picMkLst>
            <pc:docMk/>
            <pc:sldMk cId="2933862925" sldId="266"/>
            <ac:picMk id="5" creationId="{1472E24E-767F-6748-A6DF-DFBEE400B9D6}"/>
          </ac:picMkLst>
        </pc:picChg>
      </pc:sldChg>
      <pc:sldChg chg="addSp delSp modSp new">
        <pc:chgData name="Vasily M. Ermolenko" userId="S::vermolen@ad.uci.edu::e1dc845f-c510-4e2a-bba6-24e949f1aded" providerId="AD" clId="Web-{64D74390-576C-29DE-2607-440086A40826}" dt="2025-11-15T04:30:29.451" v="373"/>
        <pc:sldMkLst>
          <pc:docMk/>
          <pc:sldMk cId="135875922" sldId="267"/>
        </pc:sldMkLst>
        <pc:spChg chg="mod">
          <ac:chgData name="Vasily M. Ermolenko" userId="S::vermolen@ad.uci.edu::e1dc845f-c510-4e2a-bba6-24e949f1aded" providerId="AD" clId="Web-{64D74390-576C-29DE-2607-440086A40826}" dt="2025-11-15T04:25:33.266" v="314" actId="20577"/>
          <ac:spMkLst>
            <pc:docMk/>
            <pc:sldMk cId="135875922" sldId="267"/>
            <ac:spMk id="2" creationId="{96A0666E-55D7-1B8E-A113-BDCFBCEB45E7}"/>
          </ac:spMkLst>
        </pc:spChg>
        <pc:spChg chg="mod">
          <ac:chgData name="Vasily M. Ermolenko" userId="S::vermolen@ad.uci.edu::e1dc845f-c510-4e2a-bba6-24e949f1aded" providerId="AD" clId="Web-{64D74390-576C-29DE-2607-440086A40826}" dt="2025-11-15T04:26:50.895" v="347" actId="20577"/>
          <ac:spMkLst>
            <pc:docMk/>
            <pc:sldMk cId="135875922" sldId="267"/>
            <ac:spMk id="3" creationId="{1625AC3E-A77E-D433-F619-860E453CBBEF}"/>
          </ac:spMkLst>
        </pc:spChg>
        <pc:spChg chg="add del">
          <ac:chgData name="Vasily M. Ermolenko" userId="S::vermolen@ad.uci.edu::e1dc845f-c510-4e2a-bba6-24e949f1aded" providerId="AD" clId="Web-{64D74390-576C-29DE-2607-440086A40826}" dt="2025-11-15T04:29:36.356" v="356"/>
          <ac:spMkLst>
            <pc:docMk/>
            <pc:sldMk cId="135875922" sldId="267"/>
            <ac:spMk id="7" creationId="{0051B6E1-28F2-8A2E-C03C-0B9FD6119FB3}"/>
          </ac:spMkLst>
        </pc:spChg>
        <pc:spChg chg="add mod">
          <ac:chgData name="Vasily M. Ermolenko" userId="S::vermolen@ad.uci.edu::e1dc845f-c510-4e2a-bba6-24e949f1aded" providerId="AD" clId="Web-{64D74390-576C-29DE-2607-440086A40826}" dt="2025-11-15T04:30:08.747" v="369" actId="1076"/>
          <ac:spMkLst>
            <pc:docMk/>
            <pc:sldMk cId="135875922" sldId="267"/>
            <ac:spMk id="8" creationId="{33C36A0D-D987-8793-C1EA-896C103AF911}"/>
          </ac:spMkLst>
        </pc:spChg>
        <pc:picChg chg="add mod modCrop">
          <ac:chgData name="Vasily M. Ermolenko" userId="S::vermolen@ad.uci.edu::e1dc845f-c510-4e2a-bba6-24e949f1aded" providerId="AD" clId="Web-{64D74390-576C-29DE-2607-440086A40826}" dt="2025-11-15T04:30:14.263" v="370" actId="1076"/>
          <ac:picMkLst>
            <pc:docMk/>
            <pc:sldMk cId="135875922" sldId="267"/>
            <ac:picMk id="5" creationId="{783C1030-7520-F4F3-D16F-F7C2CCD2DD7E}"/>
          </ac:picMkLst>
        </pc:picChg>
        <pc:picChg chg="add mod modCrop">
          <ac:chgData name="Vasily M. Ermolenko" userId="S::vermolen@ad.uci.edu::e1dc845f-c510-4e2a-bba6-24e949f1aded" providerId="AD" clId="Web-{64D74390-576C-29DE-2607-440086A40826}" dt="2025-11-15T04:29:41.106" v="357" actId="1076"/>
          <ac:picMkLst>
            <pc:docMk/>
            <pc:sldMk cId="135875922" sldId="267"/>
            <ac:picMk id="6" creationId="{7EC7358E-933D-267A-91EB-FB6B17E8673B}"/>
          </ac:picMkLst>
        </pc:picChg>
        <pc:inkChg chg="add del">
          <ac:chgData name="Vasily M. Ermolenko" userId="S::vermolen@ad.uci.edu::e1dc845f-c510-4e2a-bba6-24e949f1aded" providerId="AD" clId="Web-{64D74390-576C-29DE-2607-440086A40826}" dt="2025-11-15T04:30:27.982" v="372"/>
          <ac:inkMkLst>
            <pc:docMk/>
            <pc:sldMk cId="135875922" sldId="267"/>
            <ac:inkMk id="9" creationId="{3973E8A9-CBC7-8B9A-F9BE-924AB2D16A0F}"/>
          </ac:inkMkLst>
        </pc:inkChg>
        <pc:inkChg chg="add">
          <ac:chgData name="Vasily M. Ermolenko" userId="S::vermolen@ad.uci.edu::e1dc845f-c510-4e2a-bba6-24e949f1aded" providerId="AD" clId="Web-{64D74390-576C-29DE-2607-440086A40826}" dt="2025-11-15T04:30:29.451" v="373"/>
          <ac:inkMkLst>
            <pc:docMk/>
            <pc:sldMk cId="135875922" sldId="267"/>
            <ac:inkMk id="10" creationId="{C18A7C4B-43B4-6C77-F6C6-F96B015596E5}"/>
          </ac:inkMkLst>
        </pc:ink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27570 11544 16383 0 0,'3'0'0'0'0,"6"0"0"0"0,5 0 0 0 0,3 0 0 0 0,3 0 0 0 0,2 0 0 0 0,0 0 0 0 0,1 0 0 0 0,0 0 0 0 0,0 0 0 0 0,0 0 0 0 0,-1 0 0 0 0,1 0 0 0 0,-1 0 0 0 0,3 0 0 0 0,2 0 0 0 0,0 0 0 0 0,-1 0 0 0 0,-1 0 0 0 0,-1 0 0 0 0,-2 0 0 0 0,1 0 0 0 0,-1 0 0 0 0,0 0 0 0 0,0 0 0 0 0,-1 0 0 0 0,1 0 0 0 0,0 0 0 0 0,4-4 0 0 0,1-1 0 0 0,0 0 0 0 0,-1 1 0 0 0,-2 1 0 0 0,0 2 0 0 0,-1 0 0 0 0,0 1 0 0 0,-1 0 0 0 0,-4-4 0 0 0,-1-1 0 0 0,0 1 0 0 0,1-4 0 0 0,1 1 0 0 0,1 0 0 0 0,1 3 0 0 0,1-3 0 0 0,0 0 0 0 0,0 2 0 0 0,1 1 0 0 0,-1-3 0 0 0,0 1 0 0 0,0 1 0 0 0,0 1 0 0 0,0 1 0 0 0,-3-2 0 0 0,-2-1 0 0 0,0 2 0 0 0,1-4 0 0 0,2 1 0 0 0,0 0 0 0 0,1 3 0 0 0,1 1 0 0 0,-8 5 0 0 0,-5 6 0 0 0,-9 6 0 0 0,-4 3 0 0 0,-5 0 0 0 0,-1 0 0 0 0,-3-3 0 0 0,2 1 0 0 0,-2 0 0 0 0,1 3 0 0 0,3 1 0 0 0,0 1 0 0 0,0 1 0 0 0,-1-2 0 0 0,1-2 0 0 0,1 1 0 0 0,0-4 0 0 0,0 1 0 0 0,1-7 0 0 0,7-4 0 0 0,2-7 0 0 0,1-6 0 0 0,5-3 0 0 0,-1-2 0 0 0,0-2 0 0 0,-2-3 0 0 0,2 2 0 0 0,0 0 0 0 0,-1 0 0 0 0,2 2 0 0 0,-1 0 0 0 0,3-1 0 0 0,0-2 0 0 0,-3-1 0 0 0,-1-1 0 0 0,1 2 0 0 0,-1 1 0 0 0,0 0 0 0 0,-2-2 0 0 0,-6 3 0 0 0,-5 4 0 0 0,-6 4 0 0 0,-1 0 0 0 0,-1 1 0 0 0,-2 2 0 0 0,-2 1 0 0 0,-2 2 0 0 0,3-2 0 0 0,1-1 0 0 0,0-4 0 0 0,-2 1 0 0 0,-1 1 0 0 0,0 2 0 0 0,2-3 0 0 0,1 1 0 0 0,0 2 0 0 0,-1 1 0 0 0,-2 1 0 0 0,-1-2 0 0 0,0-4 0 0 0,-1-1 0 0 0,0 2 0 0 0,0-2 0 0 0,0 1 0 0 0,-1-2 0 0 0,5 1 0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9517f116d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9517f116d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9517f116d4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9517f116d4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9517f116d4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9517f116d4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9517f116d4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9517f116d4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9517f116d4_0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9517f116d4_0_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9517f116d4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9517f116d4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9517f116d4_0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9517f116d4_0_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9517f116d4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9517f116d4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9517f116d4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9517f116d4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1.png"/><Relationship Id="rId4" Type="http://schemas.openxmlformats.org/officeDocument/2006/relationships/customXml" Target="../ink/ink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TSRTM</a:t>
            </a:r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Tractive system ready to move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By Vasily</a:t>
            </a:r>
            <a:endParaRPr/>
          </a:p>
        </p:txBody>
      </p:sp>
      <p:sp>
        <p:nvSpPr>
          <p:cNvPr id="56" name="Google Shape;56;p13"/>
          <p:cNvSpPr txBox="1"/>
          <p:nvPr/>
        </p:nvSpPr>
        <p:spPr>
          <a:xfrm>
            <a:off x="2691525" y="4208725"/>
            <a:ext cx="4133700" cy="56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Plz give suggestions and comments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this circuit for?</a:t>
            </a:r>
            <a:endParaRPr/>
          </a:p>
        </p:txBody>
      </p:sp>
      <p:sp>
        <p:nvSpPr>
          <p:cNvPr id="62" name="Google Shape;62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 the high voltage side reaches threshold past 60 volts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Indicate that the system is powered on and warn others that high voltage is activated.</a:t>
            </a:r>
            <a:endParaRPr/>
          </a:p>
        </p:txBody>
      </p:sp>
      <p:pic>
        <p:nvPicPr>
          <p:cNvPr id="63" name="Google Shape;6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44838" y="2175188"/>
            <a:ext cx="2543175" cy="2695575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4"/>
          <p:cNvSpPr txBox="1"/>
          <p:nvPr/>
        </p:nvSpPr>
        <p:spPr>
          <a:xfrm>
            <a:off x="1282350" y="3081400"/>
            <a:ext cx="3182400" cy="82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Flashing amber lights-&gt;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High Level Diagram/Explanation</a:t>
            </a:r>
            <a:endParaRPr/>
          </a:p>
        </p:txBody>
      </p:sp>
      <p:sp>
        <p:nvSpPr>
          <p:cNvPr id="70" name="Google Shape;70;p15"/>
          <p:cNvSpPr/>
          <p:nvPr/>
        </p:nvSpPr>
        <p:spPr>
          <a:xfrm>
            <a:off x="2550600" y="2094975"/>
            <a:ext cx="2125500" cy="18084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SYSTEM</a:t>
            </a:r>
            <a:endParaRPr/>
          </a:p>
        </p:txBody>
      </p:sp>
      <p:cxnSp>
        <p:nvCxnSpPr>
          <p:cNvPr id="71" name="Google Shape;71;p15"/>
          <p:cNvCxnSpPr/>
          <p:nvPr/>
        </p:nvCxnSpPr>
        <p:spPr>
          <a:xfrm>
            <a:off x="1223625" y="2482625"/>
            <a:ext cx="12801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2" name="Google Shape;72;p15"/>
          <p:cNvCxnSpPr/>
          <p:nvPr/>
        </p:nvCxnSpPr>
        <p:spPr>
          <a:xfrm>
            <a:off x="1223625" y="3433575"/>
            <a:ext cx="12801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3" name="Google Shape;73;p15"/>
          <p:cNvCxnSpPr/>
          <p:nvPr/>
        </p:nvCxnSpPr>
        <p:spPr>
          <a:xfrm>
            <a:off x="4676100" y="2999175"/>
            <a:ext cx="12801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74" name="Google Shape;74;p15"/>
          <p:cNvSpPr txBox="1"/>
          <p:nvPr/>
        </p:nvSpPr>
        <p:spPr>
          <a:xfrm>
            <a:off x="1035750" y="1789650"/>
            <a:ext cx="1362300" cy="62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</a:rPr>
              <a:t>High voltage terminals (positive and negative)</a:t>
            </a:r>
            <a:endParaRPr sz="1100">
              <a:solidFill>
                <a:schemeClr val="dk2"/>
              </a:solidFill>
            </a:endParaRPr>
          </a:p>
        </p:txBody>
      </p:sp>
      <p:sp>
        <p:nvSpPr>
          <p:cNvPr id="75" name="Google Shape;75;p15"/>
          <p:cNvSpPr txBox="1"/>
          <p:nvPr/>
        </p:nvSpPr>
        <p:spPr>
          <a:xfrm>
            <a:off x="1141425" y="2999175"/>
            <a:ext cx="1362300" cy="4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</a:rPr>
              <a:t>12 volts input to power the circuit</a:t>
            </a:r>
            <a:endParaRPr sz="1100">
              <a:solidFill>
                <a:schemeClr val="dk2"/>
              </a:solidFill>
            </a:endParaRPr>
          </a:p>
        </p:txBody>
      </p:sp>
      <p:sp>
        <p:nvSpPr>
          <p:cNvPr id="76" name="Google Shape;76;p15"/>
          <p:cNvSpPr txBox="1"/>
          <p:nvPr/>
        </p:nvSpPr>
        <p:spPr>
          <a:xfrm>
            <a:off x="800875" y="4232225"/>
            <a:ext cx="4133700" cy="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2"/>
                </a:solidFill>
              </a:rPr>
              <a:t>*Note that low voltage and high voltage must be isolated (separated)</a:t>
            </a:r>
            <a:endParaRPr dirty="0">
              <a:solidFill>
                <a:schemeClr val="dk2"/>
              </a:solidFill>
            </a:endParaRPr>
          </a:p>
        </p:txBody>
      </p:sp>
      <p:sp>
        <p:nvSpPr>
          <p:cNvPr id="77" name="Google Shape;77;p15"/>
          <p:cNvSpPr txBox="1"/>
          <p:nvPr/>
        </p:nvSpPr>
        <p:spPr>
          <a:xfrm>
            <a:off x="4934575" y="2447275"/>
            <a:ext cx="1185900" cy="4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</a:rPr>
              <a:t>Turn on or off amber light</a:t>
            </a:r>
            <a:endParaRPr sz="1100">
              <a:solidFill>
                <a:schemeClr val="dk2"/>
              </a:solidFill>
            </a:endParaRPr>
          </a:p>
        </p:txBody>
      </p:sp>
      <p:sp>
        <p:nvSpPr>
          <p:cNvPr id="78" name="Google Shape;78;p15"/>
          <p:cNvSpPr txBox="1"/>
          <p:nvPr/>
        </p:nvSpPr>
        <p:spPr>
          <a:xfrm>
            <a:off x="6320175" y="1202500"/>
            <a:ext cx="2512200" cy="355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What the schematic must have:</a:t>
            </a:r>
            <a:endParaRPr sz="1800">
              <a:solidFill>
                <a:schemeClr val="dk2"/>
              </a:solidFill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</a:pPr>
            <a:r>
              <a:rPr lang="en" sz="1200">
                <a:solidFill>
                  <a:schemeClr val="dk2"/>
                </a:solidFill>
              </a:rPr>
              <a:t>Some kind of Measurement of voltage</a:t>
            </a:r>
            <a:endParaRPr sz="1200">
              <a:solidFill>
                <a:schemeClr val="dk2"/>
              </a:solidFill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</a:pPr>
            <a:r>
              <a:rPr lang="en" sz="1200">
                <a:solidFill>
                  <a:schemeClr val="dk2"/>
                </a:solidFill>
              </a:rPr>
              <a:t>Logic to turn on amber when voltage reaches threshold</a:t>
            </a:r>
            <a:endParaRPr sz="1200">
              <a:solidFill>
                <a:schemeClr val="dk2"/>
              </a:solidFill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</a:pPr>
            <a:r>
              <a:rPr lang="en" sz="1200">
                <a:solidFill>
                  <a:schemeClr val="dk2"/>
                </a:solidFill>
              </a:rPr>
              <a:t>Logic to control duration and amber flash (most likely using 555 timer)</a:t>
            </a:r>
            <a:endParaRPr sz="1200">
              <a:solidFill>
                <a:schemeClr val="dk2"/>
              </a:solidFill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</a:pPr>
            <a:r>
              <a:rPr lang="en" sz="1200">
                <a:solidFill>
                  <a:schemeClr val="dk2"/>
                </a:solidFill>
              </a:rPr>
              <a:t>Mosfet or Relay to turn on amber light</a:t>
            </a:r>
            <a:endParaRPr sz="12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Core modules</a:t>
            </a:r>
            <a:endParaRPr/>
          </a:p>
        </p:txBody>
      </p:sp>
      <p:sp>
        <p:nvSpPr>
          <p:cNvPr id="84" name="Google Shape;84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85" name="Google Shape;8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99674" y="445025"/>
            <a:ext cx="6520980" cy="4484224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6"/>
          <p:cNvSpPr/>
          <p:nvPr/>
        </p:nvSpPr>
        <p:spPr>
          <a:xfrm>
            <a:off x="2980900" y="782375"/>
            <a:ext cx="2791500" cy="2282400"/>
          </a:xfrm>
          <a:prstGeom prst="rect">
            <a:avLst/>
          </a:prstGeom>
          <a:noFill/>
          <a:ln w="28575" cap="flat" cmpd="sng">
            <a:solidFill>
              <a:srgbClr val="00F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highlight>
                <a:srgbClr val="00FF00"/>
              </a:highlight>
            </a:endParaRPr>
          </a:p>
        </p:txBody>
      </p:sp>
      <p:sp>
        <p:nvSpPr>
          <p:cNvPr id="87" name="Google Shape;87;p16"/>
          <p:cNvSpPr txBox="1"/>
          <p:nvPr/>
        </p:nvSpPr>
        <p:spPr>
          <a:xfrm>
            <a:off x="2980900" y="2499950"/>
            <a:ext cx="2865900" cy="39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FF00"/>
                </a:solidFill>
              </a:rPr>
              <a:t>Voltage comparator </a:t>
            </a:r>
            <a:endParaRPr sz="1800">
              <a:solidFill>
                <a:srgbClr val="00FF00"/>
              </a:solidFill>
            </a:endParaRPr>
          </a:p>
        </p:txBody>
      </p:sp>
      <p:sp>
        <p:nvSpPr>
          <p:cNvPr id="88" name="Google Shape;88;p16"/>
          <p:cNvSpPr/>
          <p:nvPr/>
        </p:nvSpPr>
        <p:spPr>
          <a:xfrm>
            <a:off x="2935475" y="3188675"/>
            <a:ext cx="2476200" cy="981000"/>
          </a:xfrm>
          <a:prstGeom prst="rect">
            <a:avLst/>
          </a:prstGeom>
          <a:noFill/>
          <a:ln w="28575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highlight>
                <a:srgbClr val="00FF00"/>
              </a:highlight>
            </a:endParaRPr>
          </a:p>
        </p:txBody>
      </p:sp>
      <p:sp>
        <p:nvSpPr>
          <p:cNvPr id="89" name="Google Shape;89;p16"/>
          <p:cNvSpPr txBox="1"/>
          <p:nvPr/>
        </p:nvSpPr>
        <p:spPr>
          <a:xfrm>
            <a:off x="3052700" y="3597525"/>
            <a:ext cx="2865900" cy="39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F00FF"/>
                </a:solidFill>
              </a:rPr>
              <a:t>Voltage Divider</a:t>
            </a:r>
            <a:endParaRPr sz="1500">
              <a:solidFill>
                <a:srgbClr val="FF00FF"/>
              </a:solidFill>
            </a:endParaRPr>
          </a:p>
        </p:txBody>
      </p:sp>
      <p:sp>
        <p:nvSpPr>
          <p:cNvPr id="90" name="Google Shape;90;p16"/>
          <p:cNvSpPr/>
          <p:nvPr/>
        </p:nvSpPr>
        <p:spPr>
          <a:xfrm>
            <a:off x="5954175" y="782375"/>
            <a:ext cx="2476200" cy="2282400"/>
          </a:xfrm>
          <a:prstGeom prst="rect">
            <a:avLst/>
          </a:prstGeom>
          <a:noFill/>
          <a:ln w="28575" cap="flat" cmpd="sng">
            <a:solidFill>
              <a:srgbClr val="99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highlight>
                <a:srgbClr val="00FF00"/>
              </a:highlight>
            </a:endParaRPr>
          </a:p>
        </p:txBody>
      </p:sp>
      <p:sp>
        <p:nvSpPr>
          <p:cNvPr id="91" name="Google Shape;91;p16"/>
          <p:cNvSpPr txBox="1"/>
          <p:nvPr/>
        </p:nvSpPr>
        <p:spPr>
          <a:xfrm>
            <a:off x="6154750" y="2444308"/>
            <a:ext cx="2865900" cy="9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9900FF"/>
                </a:solidFill>
              </a:rPr>
              <a:t>Flashes the light</a:t>
            </a:r>
            <a:endParaRPr sz="1500">
              <a:solidFill>
                <a:srgbClr val="9900FF"/>
              </a:solidFill>
            </a:endParaRPr>
          </a:p>
        </p:txBody>
      </p:sp>
      <p:sp>
        <p:nvSpPr>
          <p:cNvPr id="92" name="Google Shape;92;p16"/>
          <p:cNvSpPr/>
          <p:nvPr/>
        </p:nvSpPr>
        <p:spPr>
          <a:xfrm>
            <a:off x="5608325" y="3188675"/>
            <a:ext cx="2476200" cy="981000"/>
          </a:xfrm>
          <a:prstGeom prst="rect">
            <a:avLst/>
          </a:prstGeom>
          <a:noFill/>
          <a:ln w="28575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highlight>
                <a:srgbClr val="0000FF"/>
              </a:highlight>
            </a:endParaRPr>
          </a:p>
        </p:txBody>
      </p:sp>
      <p:sp>
        <p:nvSpPr>
          <p:cNvPr id="93" name="Google Shape;93;p16"/>
          <p:cNvSpPr txBox="1"/>
          <p:nvPr/>
        </p:nvSpPr>
        <p:spPr>
          <a:xfrm>
            <a:off x="5637650" y="3597525"/>
            <a:ext cx="2865900" cy="39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FF"/>
                </a:solidFill>
              </a:rPr>
              <a:t>Voltage 12v to 12v Converter</a:t>
            </a:r>
            <a:endParaRPr sz="1500">
              <a:solidFill>
                <a:srgbClr val="0000FF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and how Voltage Divider works</a:t>
            </a:r>
            <a:endParaRPr/>
          </a:p>
        </p:txBody>
      </p:sp>
      <p:sp>
        <p:nvSpPr>
          <p:cNvPr id="99" name="Google Shape;99;p17"/>
          <p:cNvSpPr txBox="1">
            <a:spLocks noGrp="1"/>
          </p:cNvSpPr>
          <p:nvPr>
            <p:ph type="body" idx="1"/>
          </p:nvPr>
        </p:nvSpPr>
        <p:spPr>
          <a:xfrm>
            <a:off x="216450" y="1446200"/>
            <a:ext cx="3574500" cy="201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/>
              <a:t>Goal to convert voltage from 400 volts to 12 volts</a:t>
            </a:r>
            <a:endParaRPr sz="1200"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 dirty="0"/>
              <a:t>This is then used for measurements</a:t>
            </a:r>
            <a:endParaRPr sz="1200"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20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200" dirty="0"/>
              <a:t>Math behind voltage dividers</a:t>
            </a:r>
            <a:endParaRPr sz="1200" dirty="0"/>
          </a:p>
        </p:txBody>
      </p:sp>
      <p:pic>
        <p:nvPicPr>
          <p:cNvPr id="100" name="Google Shape;10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90950" y="1446200"/>
            <a:ext cx="5067300" cy="2828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9825" y="2917050"/>
            <a:ext cx="3301124" cy="1856876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7"/>
          <p:cNvSpPr txBox="1"/>
          <p:nvPr/>
        </p:nvSpPr>
        <p:spPr>
          <a:xfrm>
            <a:off x="3709300" y="4351575"/>
            <a:ext cx="483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</a:rPr>
              <a:t>Note voltage dividers are only for low currents such as reference voltages or very low current powering of devices</a:t>
            </a:r>
            <a:endParaRPr sz="11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and How Voltage Comparator</a:t>
            </a:r>
            <a:endParaRPr/>
          </a:p>
        </p:txBody>
      </p:sp>
      <p:sp>
        <p:nvSpPr>
          <p:cNvPr id="108" name="Google Shape;108;p1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477000" cy="387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Compares divided voltage to input voltage</a:t>
            </a:r>
            <a:endParaRPr sz="120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09" name="Google Shape;10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88700" y="1017725"/>
            <a:ext cx="5043600" cy="410927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0" name="Google Shape;110;p18"/>
          <p:cNvCxnSpPr/>
          <p:nvPr/>
        </p:nvCxnSpPr>
        <p:spPr>
          <a:xfrm>
            <a:off x="607850" y="2041975"/>
            <a:ext cx="1413000" cy="114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1" name="Google Shape;111;p18"/>
          <p:cNvSpPr txBox="1"/>
          <p:nvPr/>
        </p:nvSpPr>
        <p:spPr>
          <a:xfrm>
            <a:off x="489825" y="1586525"/>
            <a:ext cx="1850700" cy="36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Divide voltage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12" name="Google Shape;112;p18"/>
          <p:cNvSpPr txBox="1"/>
          <p:nvPr/>
        </p:nvSpPr>
        <p:spPr>
          <a:xfrm>
            <a:off x="782425" y="2106900"/>
            <a:ext cx="1004400" cy="36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sz="1100" dirty="0">
                <a:solidFill>
                  <a:schemeClr val="dk2"/>
                </a:solidFill>
              </a:rPr>
              <a:t>V reference voltage</a:t>
            </a:r>
            <a:endParaRPr sz="1100" dirty="0">
              <a:solidFill>
                <a:schemeClr val="dk2"/>
              </a:solidFill>
            </a:endParaRPr>
          </a:p>
        </p:txBody>
      </p:sp>
      <p:sp>
        <p:nvSpPr>
          <p:cNvPr id="113" name="Google Shape;113;p18"/>
          <p:cNvSpPr txBox="1"/>
          <p:nvPr/>
        </p:nvSpPr>
        <p:spPr>
          <a:xfrm>
            <a:off x="2152775" y="1829900"/>
            <a:ext cx="1004400" cy="36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= 0 or 1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15" name="Google Shape;115;p18"/>
          <p:cNvSpPr txBox="1"/>
          <p:nvPr/>
        </p:nvSpPr>
        <p:spPr>
          <a:xfrm>
            <a:off x="487498" y="4607202"/>
            <a:ext cx="3206100" cy="68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chemeClr val="dk2"/>
                </a:solidFill>
              </a:rPr>
              <a:t>And using </a:t>
            </a:r>
            <a:r>
              <a:rPr lang="en" sz="1100" err="1">
                <a:solidFill>
                  <a:schemeClr val="dk2"/>
                </a:solidFill>
              </a:rPr>
              <a:t>mosfets</a:t>
            </a:r>
            <a:r>
              <a:rPr lang="en" sz="1100" dirty="0">
                <a:solidFill>
                  <a:schemeClr val="dk2"/>
                </a:solidFill>
              </a:rPr>
              <a:t> turn on the </a:t>
            </a:r>
            <a:r>
              <a:rPr lang="en" sz="1100">
                <a:solidFill>
                  <a:schemeClr val="dk2"/>
                </a:solidFill>
              </a:rPr>
              <a:t>optocoupler</a:t>
            </a:r>
            <a:endParaRPr sz="1100">
              <a:solidFill>
                <a:schemeClr val="dk2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48AAF93-C3D7-66FA-61FE-98A9E87C0FF1}"/>
              </a:ext>
            </a:extLst>
          </p:cNvPr>
          <p:cNvSpPr txBox="1"/>
          <p:nvPr/>
        </p:nvSpPr>
        <p:spPr>
          <a:xfrm>
            <a:off x="484186" y="2794000"/>
            <a:ext cx="3100509" cy="144655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100" dirty="0"/>
              <a:t>If Vin &lt; </a:t>
            </a:r>
            <a:r>
              <a:rPr lang="en-US" sz="1100" err="1"/>
              <a:t>Vbias</a:t>
            </a:r>
            <a:r>
              <a:rPr lang="en-US" sz="1100" dirty="0"/>
              <a:t> output is ground</a:t>
            </a:r>
          </a:p>
          <a:p>
            <a:r>
              <a:rPr lang="en-US" sz="1100" dirty="0"/>
              <a:t>If Vin &gt; </a:t>
            </a:r>
            <a:r>
              <a:rPr lang="en-US" sz="1100" err="1"/>
              <a:t>Vbias</a:t>
            </a:r>
            <a:r>
              <a:rPr lang="en-US" sz="1100" dirty="0"/>
              <a:t> output is floating(then pulled up using pull up resistor)</a:t>
            </a:r>
          </a:p>
          <a:p>
            <a:endParaRPr lang="en-US" sz="1100" dirty="0"/>
          </a:p>
          <a:p>
            <a:endParaRPr lang="en-US" sz="1100" dirty="0"/>
          </a:p>
          <a:p>
            <a:r>
              <a:rPr lang="en-US" sz="1100" dirty="0"/>
              <a:t>Then output of comparator is connected to </a:t>
            </a:r>
            <a:r>
              <a:rPr lang="en-US" sz="1100" dirty="0" err="1"/>
              <a:t>Nmos</a:t>
            </a:r>
            <a:r>
              <a:rPr lang="en-US" sz="1100" dirty="0"/>
              <a:t> which turns on the optocoupler if voltage at gate is high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and How Amber LED</a:t>
            </a:r>
            <a:endParaRPr/>
          </a:p>
        </p:txBody>
      </p:sp>
      <p:sp>
        <p:nvSpPr>
          <p:cNvPr id="121" name="Google Shape;121;p1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30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555 timer is used to trigger intermittent flash of the amber light</a:t>
            </a:r>
            <a:endParaRPr sz="110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/>
              <a:t>The amber light is pulsed to be on and off using N type MOSFET that connects and disconnects ground for the amber which turns it on and off.</a:t>
            </a:r>
            <a:endParaRPr sz="1100"/>
          </a:p>
        </p:txBody>
      </p:sp>
      <p:pic>
        <p:nvPicPr>
          <p:cNvPr id="122" name="Google Shape;122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77075" y="1087475"/>
            <a:ext cx="4840550" cy="368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and how 12v Isolator</a:t>
            </a:r>
            <a:endParaRPr/>
          </a:p>
        </p:txBody>
      </p:sp>
      <p:sp>
        <p:nvSpPr>
          <p:cNvPr id="128" name="Google Shape;128;p20"/>
          <p:cNvSpPr txBox="1">
            <a:spLocks noGrp="1"/>
          </p:cNvSpPr>
          <p:nvPr>
            <p:ph type="body" idx="1"/>
          </p:nvPr>
        </p:nvSpPr>
        <p:spPr>
          <a:xfrm>
            <a:off x="214675" y="1134850"/>
            <a:ext cx="34821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dirty="0"/>
              <a:t>Separates high and low grounds</a:t>
            </a:r>
            <a:endParaRPr lang="en" sz="1200"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 dirty="0"/>
              <a:t>Common ground can cause:</a:t>
            </a:r>
            <a:endParaRPr sz="1200"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 dirty="0"/>
              <a:t>cause </a:t>
            </a:r>
            <a:r>
              <a:rPr lang="en" sz="1200" b="1" dirty="0"/>
              <a:t>noise </a:t>
            </a:r>
            <a:r>
              <a:rPr lang="en" sz="1200" dirty="0"/>
              <a:t>and </a:t>
            </a:r>
            <a:r>
              <a:rPr lang="en" sz="1200" b="1" dirty="0"/>
              <a:t>ground loops</a:t>
            </a:r>
            <a:r>
              <a:rPr lang="en" sz="1200" dirty="0"/>
              <a:t>, can make logic circuitry not work. Complete electrical separation, not just separate wiring.</a:t>
            </a:r>
            <a:endParaRPr sz="1200"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 dirty="0"/>
              <a:t>Thus this module separates input grounds to make sure logic works properly.</a:t>
            </a:r>
            <a:endParaRPr sz="1200" dirty="0"/>
          </a:p>
          <a:p>
            <a:pPr marL="0" indent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200" dirty="0"/>
              <a:t>The outputs on high side of the circuit </a:t>
            </a:r>
            <a:r>
              <a:rPr lang="en" sz="1200" dirty="0" err="1"/>
              <a:t>V_bias</a:t>
            </a:r>
            <a:r>
              <a:rPr lang="en" sz="1200" dirty="0"/>
              <a:t> and </a:t>
            </a:r>
            <a:r>
              <a:rPr lang="en" sz="1200" dirty="0" err="1"/>
              <a:t>HighVoltage</a:t>
            </a:r>
            <a:r>
              <a:rPr lang="en" sz="1200" dirty="0"/>
              <a:t> </a:t>
            </a:r>
            <a:r>
              <a:rPr lang="en" sz="1200" dirty="0" err="1"/>
              <a:t>devied</a:t>
            </a:r>
            <a:r>
              <a:rPr lang="en" sz="1200" dirty="0"/>
              <a:t> down to voltage for comparator share the same ground (high side ground) for the comparator to work properly, comparator is also grounded to high side ground</a:t>
            </a:r>
          </a:p>
        </p:txBody>
      </p:sp>
      <p:pic>
        <p:nvPicPr>
          <p:cNvPr id="129" name="Google Shape;129;p20"/>
          <p:cNvPicPr preferRelativeResize="0"/>
          <p:nvPr/>
        </p:nvPicPr>
        <p:blipFill rotWithShape="1">
          <a:blip r:embed="rId3">
            <a:alphaModFix/>
          </a:blip>
          <a:srcRect r="22390"/>
          <a:stretch/>
        </p:blipFill>
        <p:spPr>
          <a:xfrm>
            <a:off x="4247525" y="1531900"/>
            <a:ext cx="4509401" cy="1762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schematic</a:t>
            </a:r>
            <a:endParaRPr/>
          </a:p>
        </p:txBody>
      </p:sp>
      <p:pic>
        <p:nvPicPr>
          <p:cNvPr id="135" name="Google Shape;13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95300" y="919050"/>
            <a:ext cx="5810250" cy="402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pcb</a:t>
            </a:r>
            <a:endParaRPr/>
          </a:p>
        </p:txBody>
      </p:sp>
      <p:sp>
        <p:nvSpPr>
          <p:cNvPr id="141" name="Google Shape;141;p2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42" name="Google Shape;142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6825" y="1017725"/>
            <a:ext cx="5943600" cy="3848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86B2BA-D6C0-B354-A75E-78BDAD326F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Potential ideas for improvement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854D25-DC74-26CA-680D-0CEF84EEEA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4345475" cy="3416400"/>
          </a:xfrm>
        </p:spPr>
        <p:txBody>
          <a:bodyPr/>
          <a:lstStyle/>
          <a:p>
            <a:r>
              <a:rPr lang="en-US" dirty="0"/>
              <a:t>Reducing number of </a:t>
            </a:r>
            <a:r>
              <a:rPr lang="en-US" dirty="0" err="1"/>
              <a:t>mosfets</a:t>
            </a:r>
            <a:r>
              <a:rPr lang="en-US" dirty="0"/>
              <a:t> to drive the optocoupler to just one </a:t>
            </a:r>
            <a:r>
              <a:rPr lang="en-US" dirty="0" err="1"/>
              <a:t>Nmos</a:t>
            </a:r>
            <a:r>
              <a:rPr lang="en-US" dirty="0"/>
              <a:t> on the bottom</a:t>
            </a:r>
          </a:p>
          <a:p>
            <a:pPr marL="114300" indent="0">
              <a:lnSpc>
                <a:spcPct val="114999"/>
              </a:lnSpc>
              <a:buNone/>
            </a:pPr>
            <a:r>
              <a:rPr lang="en-US" dirty="0"/>
              <a:t>Thus source channel of </a:t>
            </a:r>
            <a:r>
              <a:rPr lang="en-US" dirty="0" err="1"/>
              <a:t>Nmos</a:t>
            </a:r>
            <a:r>
              <a:rPr lang="en-US" dirty="0"/>
              <a:t> is always grounded and optocoupler connects to drain</a:t>
            </a:r>
          </a:p>
          <a:p>
            <a:pPr>
              <a:lnSpc>
                <a:spcPct val="114999"/>
              </a:lnSpc>
            </a:pPr>
            <a:r>
              <a:rPr lang="en-US" dirty="0"/>
              <a:t>(this slightly simplifies the circuit)</a:t>
            </a:r>
          </a:p>
        </p:txBody>
      </p:sp>
      <p:pic>
        <p:nvPicPr>
          <p:cNvPr id="5" name="Google Shape;109;p18" descr="A diagram of a circuit&#10;&#10;AI-generated content may be incorrect.">
            <a:extLst>
              <a:ext uri="{FF2B5EF4-FFF2-40B4-BE49-F238E27FC236}">
                <a16:creationId xmlns:a16="http://schemas.microsoft.com/office/drawing/2014/main" id="{1472E24E-767F-6748-A6DF-DFBEE400B9D6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rcRect l="32913" t="3080" r="472" b="-1161"/>
          <a:stretch>
            <a:fillRect/>
          </a:stretch>
        </p:blipFill>
        <p:spPr>
          <a:xfrm>
            <a:off x="5068470" y="556150"/>
            <a:ext cx="3359760" cy="403038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338629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A0666E-55D7-1B8E-A113-BDCFBCEB45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500" dirty="0"/>
              <a:t>Potential ideas for improvement</a:t>
            </a:r>
          </a:p>
          <a:p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25AC3E-A77E-D433-F619-860E453CBB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Slight simplification of amber led turn on</a:t>
            </a:r>
          </a:p>
        </p:txBody>
      </p:sp>
      <p:pic>
        <p:nvPicPr>
          <p:cNvPr id="5" name="Google Shape;122;p19" descr="A diagram of a computer&#10;&#10;AI-generated content may be incorrect.">
            <a:extLst>
              <a:ext uri="{FF2B5EF4-FFF2-40B4-BE49-F238E27FC236}">
                <a16:creationId xmlns:a16="http://schemas.microsoft.com/office/drawing/2014/main" id="{783C1030-7520-F4F3-D16F-F7C2CCD2DD7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rcRect l="73934" t="-648" r="-73935" b="432"/>
          <a:stretch>
            <a:fillRect/>
          </a:stretch>
        </p:blipFill>
        <p:spPr>
          <a:xfrm>
            <a:off x="4986700" y="1325599"/>
            <a:ext cx="4840555" cy="3689957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 descr="A black screen with white lines and symbols&#10;&#10;AI-generated content may be incorrect.">
            <a:extLst>
              <a:ext uri="{FF2B5EF4-FFF2-40B4-BE49-F238E27FC236}">
                <a16:creationId xmlns:a16="http://schemas.microsoft.com/office/drawing/2014/main" id="{7EC7358E-933D-267A-91EB-FB6B17E8673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587" r="224" b="-306"/>
          <a:stretch>
            <a:fillRect/>
          </a:stretch>
        </p:blipFill>
        <p:spPr>
          <a:xfrm>
            <a:off x="6864350" y="1327150"/>
            <a:ext cx="1872225" cy="2489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3C36A0D-D987-8793-C1EA-896C103AF911}"/>
              </a:ext>
            </a:extLst>
          </p:cNvPr>
          <p:cNvSpPr txBox="1"/>
          <p:nvPr/>
        </p:nvSpPr>
        <p:spPr>
          <a:xfrm>
            <a:off x="7897812" y="2206625"/>
            <a:ext cx="2743200" cy="2616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100" dirty="0">
                <a:solidFill>
                  <a:srgbClr val="FF0000"/>
                </a:solidFill>
              </a:rPr>
              <a:t>Amber led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C18A7C4B-43B4-6C77-F6C6-F96B015596E5}"/>
                  </a:ext>
                </a:extLst>
              </p14:cNvPr>
              <p14:cNvContentPartPr/>
              <p14:nvPr/>
            </p14:nvContentPartPr>
            <p14:xfrm>
              <a:off x="6254749" y="2926888"/>
              <a:ext cx="476823" cy="17891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C18A7C4B-43B4-6C77-F6C6-F96B015596E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237129" y="2908925"/>
                <a:ext cx="512423" cy="214476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5875922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965DA01DEA61D438F296BBEA879C840" ma:contentTypeVersion="19" ma:contentTypeDescription="Create a new document." ma:contentTypeScope="" ma:versionID="d79f18288c39e1f9242d84e91e27d879">
  <xsd:schema xmlns:xsd="http://www.w3.org/2001/XMLSchema" xmlns:xs="http://www.w3.org/2001/XMLSchema" xmlns:p="http://schemas.microsoft.com/office/2006/metadata/properties" xmlns:ns2="106576a5-d1b3-4eac-bf0a-4220af781826" xmlns:ns3="5cbf1f57-4896-4308-a246-df5f7c439b7d" targetNamespace="http://schemas.microsoft.com/office/2006/metadata/properties" ma:root="true" ma:fieldsID="bdc50e0e9cd0d5dda7ae1499371982f3" ns2:_="" ns3:_="">
    <xsd:import namespace="106576a5-d1b3-4eac-bf0a-4220af781826"/>
    <xsd:import namespace="5cbf1f57-4896-4308-a246-df5f7c439b7d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DateTaken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lcf76f155ced4ddcb4097134ff3c332f" minOccurs="0"/>
                <xsd:element ref="ns2:TaxCatchAll" minOccurs="0"/>
                <xsd:element ref="ns3:MediaServiceOCR" minOccurs="0"/>
                <xsd:element ref="ns3:MediaServiceLocation" minOccurs="0"/>
                <xsd:element ref="ns3:Subteam" minOccurs="0"/>
                <xsd:element ref="ns3:Filter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06576a5-d1b3-4eac-bf0a-4220af781826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2c268737-65a6-4b73-bc4b-77cd5380c40f}" ma:internalName="TaxCatchAll" ma:showField="CatchAllData" ma:web="106576a5-d1b3-4eac-bf0a-4220af78182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cbf1f57-4896-4308-a246-df5f7c439b7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733ad1a4-bcb6-4664-8873-2816a39d139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Subteam" ma:index="23" nillable="true" ma:displayName="File Filter" ma:description="Set to make it so the sub-team folders are separate" ma:format="Dropdown" ma:internalName="Subteam">
      <xsd:complexType>
        <xsd:complexContent>
          <xsd:extension base="dms:MultiChoiceFillIn">
            <xsd:sequence>
              <xsd:element name="Value" maxOccurs="unbounded" minOccurs="0" nillable="true">
                <xsd:simpleType>
                  <xsd:union memberTypes="dms:Text">
                    <xsd:simpleType>
                      <xsd:restriction base="dms:Choice">
                        <xsd:enumeration value="Subteam"/>
                        <xsd:enumeration value="Documents"/>
                        <xsd:enumeration value="Old Stuff"/>
                        <xsd:enumeration value="Useful Resources"/>
                      </xsd:restriction>
                    </xsd:simpleType>
                  </xsd:union>
                </xsd:simpleType>
              </xsd:element>
            </xsd:sequence>
          </xsd:extension>
        </xsd:complexContent>
      </xsd:complexType>
    </xsd:element>
    <xsd:element name="Filter" ma:index="24" nillable="true" ma:displayName="Filter" ma:format="Dropdown" ma:internalName="Filter" ma:percentage="FALSE">
      <xsd:simpleType>
        <xsd:restriction base="dms:Number"/>
      </xsd:simpleType>
    </xsd:element>
    <xsd:element name="MediaServiceBillingMetadata" ma:index="25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ubteam xmlns="5cbf1f57-4896-4308-a246-df5f7c439b7d" xsi:nil="true"/>
    <TaxCatchAll xmlns="106576a5-d1b3-4eac-bf0a-4220af781826" xsi:nil="true"/>
    <lcf76f155ced4ddcb4097134ff3c332f xmlns="5cbf1f57-4896-4308-a246-df5f7c439b7d">
      <Terms xmlns="http://schemas.microsoft.com/office/infopath/2007/PartnerControls"/>
    </lcf76f155ced4ddcb4097134ff3c332f>
    <Filter xmlns="5cbf1f57-4896-4308-a246-df5f7c439b7d" xsi:nil="true"/>
  </documentManagement>
</p:properties>
</file>

<file path=customXml/itemProps1.xml><?xml version="1.0" encoding="utf-8"?>
<ds:datastoreItem xmlns:ds="http://schemas.openxmlformats.org/officeDocument/2006/customXml" ds:itemID="{CF110707-E6A2-4F55-BEFA-4D4CA03F87F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4F7FBA5-2089-43A8-B8D8-08A9B6E0337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06576a5-d1b3-4eac-bf0a-4220af781826"/>
    <ds:schemaRef ds:uri="5cbf1f57-4896-4308-a246-df5f7c439b7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F09BF62-128E-4705-B3E0-B0160ED0DE31}">
  <ds:schemaRefs>
    <ds:schemaRef ds:uri="http://schemas.microsoft.com/office/2006/metadata/properties"/>
    <ds:schemaRef ds:uri="http://schemas.microsoft.com/office/infopath/2007/PartnerControls"/>
    <ds:schemaRef ds:uri="5cbf1f57-4896-4308-a246-df5f7c439b7d"/>
    <ds:schemaRef ds:uri="106576a5-d1b3-4eac-bf0a-4220af781826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12</Slides>
  <Notes>10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Simple Light</vt:lpstr>
      <vt:lpstr>TSRTM</vt:lpstr>
      <vt:lpstr>What is this circuit for?</vt:lpstr>
      <vt:lpstr>High Level Diagram/Explanation</vt:lpstr>
      <vt:lpstr>Core modules</vt:lpstr>
      <vt:lpstr>Why and how Voltage Divider works</vt:lpstr>
      <vt:lpstr>Why and How Voltage Comparator</vt:lpstr>
      <vt:lpstr>Why and How Amber LED</vt:lpstr>
      <vt:lpstr>Why and how 12v Isolator</vt:lpstr>
      <vt:lpstr>schematic</vt:lpstr>
      <vt:lpstr>pcb</vt:lpstr>
      <vt:lpstr>Potential ideas for improvement</vt:lpstr>
      <vt:lpstr>Potential ideas for improvement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96</cp:revision>
  <dcterms:modified xsi:type="dcterms:W3CDTF">2025-11-15T04:44:06Z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0x010100E965DA01DEA61D438F296BBEA879C840</vt:lpwstr>
  </property>
  <property fmtid="{D5CDD505-2E9C-101B-9397-08002B2CF9AE}" pid="3" name="MediaServiceImageTags">
    <vt:lpwstr/>
  </property>
</Properties>
</file>